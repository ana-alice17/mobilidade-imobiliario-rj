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Lato Bold" charset="1" panose="020F0502020204030203"/>
      <p:regular r:id="rId14"/>
    </p:embeddedFont>
    <p:embeddedFont>
      <p:font typeface="Lato" charset="1" panose="020F05020202040302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64697"/>
            <a:ext cx="14712162" cy="293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630" spc="-15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</a:t>
            </a:r>
            <a:r>
              <a:rPr lang="en-US" b="true" sz="7630" spc="-1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bilidade Urbana e Mercado Imobiliário no Rio de Janeiro</a:t>
            </a:r>
          </a:p>
          <a:p>
            <a:pPr algn="l">
              <a:lnSpc>
                <a:spcPts val="763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630070" y="830563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23374"/>
            <a:ext cx="10328514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10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5499" spc="-10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ITBI à base de análise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5551" y="475266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3206155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792357"/>
            <a:ext cx="7725494" cy="3043441"/>
          </a:xfrm>
          <a:custGeom>
            <a:avLst/>
            <a:gdLst/>
            <a:ahLst/>
            <a:cxnLst/>
            <a:rect r="r" b="b" t="t" l="l"/>
            <a:pathLst>
              <a:path h="3043441" w="7725494">
                <a:moveTo>
                  <a:pt x="0" y="0"/>
                </a:moveTo>
                <a:lnTo>
                  <a:pt x="7725494" y="0"/>
                </a:lnTo>
                <a:lnTo>
                  <a:pt x="7725494" y="3043442"/>
                </a:lnTo>
                <a:lnTo>
                  <a:pt x="0" y="304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28" r="0" b="-1911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68265" y="5601857"/>
            <a:ext cx="6735584" cy="3433414"/>
          </a:xfrm>
          <a:custGeom>
            <a:avLst/>
            <a:gdLst/>
            <a:ahLst/>
            <a:cxnLst/>
            <a:rect r="r" b="b" t="t" l="l"/>
            <a:pathLst>
              <a:path h="3433414" w="6735584">
                <a:moveTo>
                  <a:pt x="0" y="0"/>
                </a:moveTo>
                <a:lnTo>
                  <a:pt x="6735584" y="0"/>
                </a:lnTo>
                <a:lnTo>
                  <a:pt x="6735584" y="3433415"/>
                </a:lnTo>
                <a:lnTo>
                  <a:pt x="0" y="343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03" t="-2448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86563" y="3008269"/>
            <a:ext cx="14714874" cy="1736338"/>
            <a:chOff x="0" y="0"/>
            <a:chExt cx="19619832" cy="2315117"/>
          </a:xfrm>
        </p:grpSpPr>
        <p:sp>
          <p:nvSpPr>
            <p:cNvPr name="AutoShape 8" id="8"/>
            <p:cNvSpPr/>
            <p:nvPr/>
          </p:nvSpPr>
          <p:spPr>
            <a:xfrm flipV="true">
              <a:off x="1276077" y="0"/>
              <a:ext cx="0" cy="527696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V="true">
              <a:off x="6676059" y="0"/>
              <a:ext cx="0" cy="527696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V="true">
              <a:off x="12382299" y="0"/>
              <a:ext cx="0" cy="527696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8132291" y="0"/>
              <a:ext cx="0" cy="527696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711759"/>
              <a:ext cx="2552153" cy="1603358"/>
            </a:xfrm>
            <a:custGeom>
              <a:avLst/>
              <a:gdLst/>
              <a:ahLst/>
              <a:cxnLst/>
              <a:rect r="r" b="b" t="t" l="l"/>
              <a:pathLst>
                <a:path h="1603358" w="2552153">
                  <a:moveTo>
                    <a:pt x="0" y="0"/>
                  </a:moveTo>
                  <a:lnTo>
                    <a:pt x="2552153" y="0"/>
                  </a:lnTo>
                  <a:lnTo>
                    <a:pt x="2552153" y="1603358"/>
                  </a:lnTo>
                  <a:lnTo>
                    <a:pt x="0" y="1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85" t="-7272" r="-400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67749" y="1248038"/>
              <a:ext cx="760838" cy="523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b="true" sz="2654" spc="-106">
                  <a:solidFill>
                    <a:srgbClr val="F6F6F6"/>
                  </a:solidFill>
                  <a:latin typeface="Lato Bold"/>
                  <a:ea typeface="Lato Bold"/>
                  <a:cs typeface="Lato Bold"/>
                  <a:sym typeface="Lato Bold"/>
                </a:rPr>
                <a:t>ITBI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5232269" y="711759"/>
              <a:ext cx="2887579" cy="1603358"/>
            </a:xfrm>
            <a:custGeom>
              <a:avLst/>
              <a:gdLst/>
              <a:ahLst/>
              <a:cxnLst/>
              <a:rect r="r" b="b" t="t" l="l"/>
              <a:pathLst>
                <a:path h="1603358" w="2887579">
                  <a:moveTo>
                    <a:pt x="0" y="0"/>
                  </a:moveTo>
                  <a:lnTo>
                    <a:pt x="2887579" y="0"/>
                  </a:lnTo>
                  <a:lnTo>
                    <a:pt x="2887579" y="1603358"/>
                  </a:lnTo>
                  <a:lnTo>
                    <a:pt x="0" y="1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080" t="-7272" r="-303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5511943" y="1248038"/>
              <a:ext cx="2328232" cy="523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b="true" sz="2654" spc="-106">
                  <a:solidFill>
                    <a:srgbClr val="F6F6F6"/>
                  </a:solidFill>
                  <a:latin typeface="Lato Bold"/>
                  <a:ea typeface="Lato Bold"/>
                  <a:cs typeface="Lato Bold"/>
                  <a:sym typeface="Lato Bold"/>
                </a:rPr>
                <a:t>Tratamento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0799964" y="711759"/>
              <a:ext cx="3164670" cy="1603358"/>
            </a:xfrm>
            <a:custGeom>
              <a:avLst/>
              <a:gdLst/>
              <a:ahLst/>
              <a:cxnLst/>
              <a:rect r="r" b="b" t="t" l="l"/>
              <a:pathLst>
                <a:path h="1603358" w="3164670">
                  <a:moveTo>
                    <a:pt x="0" y="0"/>
                  </a:moveTo>
                  <a:lnTo>
                    <a:pt x="3164670" y="0"/>
                  </a:lnTo>
                  <a:lnTo>
                    <a:pt x="3164670" y="1603358"/>
                  </a:lnTo>
                  <a:lnTo>
                    <a:pt x="0" y="1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94" t="-7272" r="-230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0948246" y="1248038"/>
              <a:ext cx="3016388" cy="533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5"/>
                </a:lnSpc>
              </a:pPr>
              <a:r>
                <a:rPr lang="en-US" sz="2654" spc="-106" b="true">
                  <a:solidFill>
                    <a:srgbClr val="F6F6F6"/>
                  </a:solidFill>
                  <a:latin typeface="Lato Bold"/>
                  <a:ea typeface="Lato Bold"/>
                  <a:cs typeface="Lato Bold"/>
                  <a:sym typeface="Lato Bold"/>
                </a:rPr>
                <a:t>Geocodificação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16644750" y="711759"/>
              <a:ext cx="2975081" cy="1603358"/>
            </a:xfrm>
            <a:custGeom>
              <a:avLst/>
              <a:gdLst/>
              <a:ahLst/>
              <a:cxnLst/>
              <a:rect r="r" b="b" t="t" l="l"/>
              <a:pathLst>
                <a:path h="1603358" w="2975081">
                  <a:moveTo>
                    <a:pt x="0" y="0"/>
                  </a:moveTo>
                  <a:lnTo>
                    <a:pt x="2975082" y="0"/>
                  </a:lnTo>
                  <a:lnTo>
                    <a:pt x="2975082" y="1603358"/>
                  </a:lnTo>
                  <a:lnTo>
                    <a:pt x="0" y="1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313" t="-7272" r="-83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7036384" y="980083"/>
              <a:ext cx="2191813" cy="106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b="true" sz="2654" spc="-106">
                  <a:solidFill>
                    <a:srgbClr val="F6F6F6"/>
                  </a:solidFill>
                  <a:latin typeface="Lato Bold"/>
                  <a:ea typeface="Lato Bold"/>
                  <a:cs typeface="Lato Bold"/>
                  <a:sym typeface="Lato Bold"/>
                </a:rPr>
                <a:t>Dados</a:t>
              </a:r>
            </a:p>
            <a:p>
              <a:pPr algn="ctr">
                <a:lnSpc>
                  <a:spcPts val="3185"/>
                </a:lnSpc>
              </a:pPr>
              <a:r>
                <a:rPr lang="en-US" b="true" sz="2654" spc="-106">
                  <a:solidFill>
                    <a:srgbClr val="F6F6F6"/>
                  </a:solidFill>
                  <a:latin typeface="Lato Bold"/>
                  <a:ea typeface="Lato Bold"/>
                  <a:cs typeface="Lato Bold"/>
                  <a:sym typeface="Lato Bold"/>
                </a:rPr>
                <a:t>residenciais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680" y="2658449"/>
            <a:ext cx="15476640" cy="3428458"/>
          </a:xfrm>
          <a:custGeom>
            <a:avLst/>
            <a:gdLst/>
            <a:ahLst/>
            <a:cxnLst/>
            <a:rect r="r" b="b" t="t" l="l"/>
            <a:pathLst>
              <a:path h="3428458" w="15476640">
                <a:moveTo>
                  <a:pt x="0" y="0"/>
                </a:moveTo>
                <a:lnTo>
                  <a:pt x="15476640" y="0"/>
                </a:lnTo>
                <a:lnTo>
                  <a:pt x="15476640" y="3428457"/>
                </a:lnTo>
                <a:lnTo>
                  <a:pt x="0" y="3428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40701" y="6086906"/>
            <a:ext cx="5606599" cy="3966827"/>
            <a:chOff x="0" y="0"/>
            <a:chExt cx="868609" cy="614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8609" cy="614565"/>
            </a:xfrm>
            <a:custGeom>
              <a:avLst/>
              <a:gdLst/>
              <a:ahLst/>
              <a:cxnLst/>
              <a:rect r="r" b="b" t="t" l="l"/>
              <a:pathLst>
                <a:path h="614565" w="868609">
                  <a:moveTo>
                    <a:pt x="0" y="0"/>
                  </a:moveTo>
                  <a:lnTo>
                    <a:pt x="868609" y="0"/>
                  </a:lnTo>
                  <a:lnTo>
                    <a:pt x="868609" y="614565"/>
                  </a:lnTo>
                  <a:lnTo>
                    <a:pt x="0" y="614565"/>
                  </a:lnTo>
                  <a:close/>
                </a:path>
              </a:pathLst>
            </a:custGeom>
            <a:blipFill>
              <a:blip r:embed="rId3"/>
              <a:stretch>
                <a:fillRect l="-3097" t="0" r="-309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622109" y="7772696"/>
            <a:ext cx="159795" cy="217408"/>
          </a:xfrm>
          <a:custGeom>
            <a:avLst/>
            <a:gdLst/>
            <a:ahLst/>
            <a:cxnLst/>
            <a:rect r="r" b="b" t="t" l="l"/>
            <a:pathLst>
              <a:path h="217408" w="159795">
                <a:moveTo>
                  <a:pt x="0" y="0"/>
                </a:moveTo>
                <a:lnTo>
                  <a:pt x="159795" y="0"/>
                </a:lnTo>
                <a:lnTo>
                  <a:pt x="159795" y="217408"/>
                </a:lnTo>
                <a:lnTo>
                  <a:pt x="0" y="217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23374"/>
            <a:ext cx="10328514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10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5499" spc="-10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ITBI à base de análise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75551" y="475266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686255" y="7804659"/>
            <a:ext cx="79897" cy="108704"/>
          </a:xfrm>
          <a:custGeom>
            <a:avLst/>
            <a:gdLst/>
            <a:ahLst/>
            <a:cxnLst/>
            <a:rect r="r" b="b" t="t" l="l"/>
            <a:pathLst>
              <a:path h="108704" w="79897">
                <a:moveTo>
                  <a:pt x="0" y="0"/>
                </a:moveTo>
                <a:lnTo>
                  <a:pt x="79897" y="0"/>
                </a:lnTo>
                <a:lnTo>
                  <a:pt x="79897" y="108704"/>
                </a:lnTo>
                <a:lnTo>
                  <a:pt x="0" y="108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75427" y="9040892"/>
            <a:ext cx="159795" cy="217408"/>
          </a:xfrm>
          <a:custGeom>
            <a:avLst/>
            <a:gdLst/>
            <a:ahLst/>
            <a:cxnLst/>
            <a:rect r="r" b="b" t="t" l="l"/>
            <a:pathLst>
              <a:path h="217408" w="159795">
                <a:moveTo>
                  <a:pt x="0" y="0"/>
                </a:moveTo>
                <a:lnTo>
                  <a:pt x="159795" y="0"/>
                </a:lnTo>
                <a:lnTo>
                  <a:pt x="159795" y="217408"/>
                </a:lnTo>
                <a:lnTo>
                  <a:pt x="0" y="217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1245" y="3184917"/>
            <a:ext cx="9192727" cy="4919072"/>
            <a:chOff x="0" y="0"/>
            <a:chExt cx="6947921" cy="3717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7921" cy="3717865"/>
            </a:xfrm>
            <a:custGeom>
              <a:avLst/>
              <a:gdLst/>
              <a:ahLst/>
              <a:cxnLst/>
              <a:rect r="r" b="b" t="t" l="l"/>
              <a:pathLst>
                <a:path h="3717865" w="6947921">
                  <a:moveTo>
                    <a:pt x="16844" y="0"/>
                  </a:moveTo>
                  <a:lnTo>
                    <a:pt x="6931077" y="0"/>
                  </a:lnTo>
                  <a:cubicBezTo>
                    <a:pt x="6940379" y="0"/>
                    <a:pt x="6947921" y="7541"/>
                    <a:pt x="6947921" y="16844"/>
                  </a:cubicBezTo>
                  <a:lnTo>
                    <a:pt x="6947921" y="3701022"/>
                  </a:lnTo>
                  <a:cubicBezTo>
                    <a:pt x="6947921" y="3710324"/>
                    <a:pt x="6940379" y="3717865"/>
                    <a:pt x="6931077" y="3717865"/>
                  </a:cubicBezTo>
                  <a:lnTo>
                    <a:pt x="16844" y="3717865"/>
                  </a:lnTo>
                  <a:cubicBezTo>
                    <a:pt x="7541" y="3717865"/>
                    <a:pt x="0" y="3710324"/>
                    <a:pt x="0" y="3701022"/>
                  </a:cubicBezTo>
                  <a:lnTo>
                    <a:pt x="0" y="16844"/>
                  </a:lnTo>
                  <a:cubicBezTo>
                    <a:pt x="0" y="7541"/>
                    <a:pt x="7541" y="0"/>
                    <a:pt x="1684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17" r="0" b="-91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926" y="1759342"/>
            <a:ext cx="11166521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5499" spc="-10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definimos a amostra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75551" y="475266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9744" y="3203967"/>
            <a:ext cx="4273907" cy="5226838"/>
            <a:chOff x="0" y="0"/>
            <a:chExt cx="2241537" cy="2741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1537" cy="2741321"/>
            </a:xfrm>
            <a:custGeom>
              <a:avLst/>
              <a:gdLst/>
              <a:ahLst/>
              <a:cxnLst/>
              <a:rect r="r" b="b" t="t" l="l"/>
              <a:pathLst>
                <a:path h="2741321" w="2241537">
                  <a:moveTo>
                    <a:pt x="36229" y="0"/>
                  </a:moveTo>
                  <a:lnTo>
                    <a:pt x="2205308" y="0"/>
                  </a:lnTo>
                  <a:cubicBezTo>
                    <a:pt x="2225317" y="0"/>
                    <a:pt x="2241537" y="16220"/>
                    <a:pt x="2241537" y="36229"/>
                  </a:cubicBezTo>
                  <a:lnTo>
                    <a:pt x="2241537" y="2705092"/>
                  </a:lnTo>
                  <a:cubicBezTo>
                    <a:pt x="2241537" y="2725101"/>
                    <a:pt x="2225317" y="2741321"/>
                    <a:pt x="2205308" y="2741321"/>
                  </a:cubicBezTo>
                  <a:lnTo>
                    <a:pt x="36229" y="2741321"/>
                  </a:lnTo>
                  <a:cubicBezTo>
                    <a:pt x="16220" y="2741321"/>
                    <a:pt x="0" y="2725101"/>
                    <a:pt x="0" y="2705092"/>
                  </a:cubicBezTo>
                  <a:lnTo>
                    <a:pt x="0" y="36229"/>
                  </a:lnTo>
                  <a:cubicBezTo>
                    <a:pt x="0" y="16220"/>
                    <a:pt x="16220" y="0"/>
                    <a:pt x="36229" y="0"/>
                  </a:cubicBezTo>
                  <a:close/>
                </a:path>
              </a:pathLst>
            </a:custGeom>
            <a:blipFill>
              <a:blip r:embed="rId3"/>
              <a:stretch>
                <a:fillRect l="-26435" t="0" r="-2643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57538" y="7305785"/>
            <a:ext cx="5816956" cy="1298117"/>
            <a:chOff x="0" y="0"/>
            <a:chExt cx="7755942" cy="173082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755942" cy="1730823"/>
              <a:chOff x="0" y="0"/>
              <a:chExt cx="1337625" cy="29850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37625" cy="298506"/>
              </a:xfrm>
              <a:custGeom>
                <a:avLst/>
                <a:gdLst/>
                <a:ahLst/>
                <a:cxnLst/>
                <a:rect r="r" b="b" t="t" l="l"/>
                <a:pathLst>
                  <a:path h="298506" w="1337625">
                    <a:moveTo>
                      <a:pt x="0" y="0"/>
                    </a:moveTo>
                    <a:lnTo>
                      <a:pt x="1337625" y="0"/>
                    </a:lnTo>
                    <a:lnTo>
                      <a:pt x="1337625" y="298506"/>
                    </a:lnTo>
                    <a:lnTo>
                      <a:pt x="0" y="298506"/>
                    </a:lnTo>
                    <a:close/>
                  </a:path>
                </a:pathLst>
              </a:custGeom>
              <a:solidFill>
                <a:srgbClr val="3E6EB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37625" cy="336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3147" y="248448"/>
              <a:ext cx="7502795" cy="1482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84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Fat</a:t>
              </a:r>
              <a:r>
                <a:rPr lang="en-US" sz="2118" spc="-84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or de correção jul/2011 → dez/2024: 2.142</a:t>
              </a:r>
            </a:p>
            <a:p>
              <a:pPr algn="l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84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Fator de correção dez/2024 → dez/2024: 1.000</a:t>
              </a:r>
            </a:p>
            <a:p>
              <a:pPr algn="l">
                <a:lnSpc>
                  <a:spcPts val="2965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1245" y="3184917"/>
            <a:ext cx="9192727" cy="4919072"/>
            <a:chOff x="0" y="0"/>
            <a:chExt cx="6947921" cy="3717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7921" cy="3717865"/>
            </a:xfrm>
            <a:custGeom>
              <a:avLst/>
              <a:gdLst/>
              <a:ahLst/>
              <a:cxnLst/>
              <a:rect r="r" b="b" t="t" l="l"/>
              <a:pathLst>
                <a:path h="3717865" w="6947921">
                  <a:moveTo>
                    <a:pt x="16844" y="0"/>
                  </a:moveTo>
                  <a:lnTo>
                    <a:pt x="6931077" y="0"/>
                  </a:lnTo>
                  <a:cubicBezTo>
                    <a:pt x="6940379" y="0"/>
                    <a:pt x="6947921" y="7541"/>
                    <a:pt x="6947921" y="16844"/>
                  </a:cubicBezTo>
                  <a:lnTo>
                    <a:pt x="6947921" y="3701022"/>
                  </a:lnTo>
                  <a:cubicBezTo>
                    <a:pt x="6947921" y="3710324"/>
                    <a:pt x="6940379" y="3717865"/>
                    <a:pt x="6931077" y="3717865"/>
                  </a:cubicBezTo>
                  <a:lnTo>
                    <a:pt x="16844" y="3717865"/>
                  </a:lnTo>
                  <a:cubicBezTo>
                    <a:pt x="7541" y="3717865"/>
                    <a:pt x="0" y="3710324"/>
                    <a:pt x="0" y="3701022"/>
                  </a:cubicBezTo>
                  <a:lnTo>
                    <a:pt x="0" y="16844"/>
                  </a:lnTo>
                  <a:cubicBezTo>
                    <a:pt x="0" y="7541"/>
                    <a:pt x="7541" y="0"/>
                    <a:pt x="1684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37" r="0" b="-1213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85926" y="3410670"/>
            <a:ext cx="5297507" cy="4558644"/>
          </a:xfrm>
          <a:custGeom>
            <a:avLst/>
            <a:gdLst/>
            <a:ahLst/>
            <a:cxnLst/>
            <a:rect r="r" b="b" t="t" l="l"/>
            <a:pathLst>
              <a:path h="4558644" w="5297507">
                <a:moveTo>
                  <a:pt x="0" y="0"/>
                </a:moveTo>
                <a:lnTo>
                  <a:pt x="5297507" y="0"/>
                </a:lnTo>
                <a:lnTo>
                  <a:pt x="5297507" y="4558644"/>
                </a:lnTo>
                <a:lnTo>
                  <a:pt x="0" y="4558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5926" y="1759342"/>
            <a:ext cx="11166521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5499" spc="-10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definimos a amostra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75551" y="475266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33475"/>
            <a:ext cx="1043205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10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Integração da Mobilidad</a:t>
            </a:r>
            <a:r>
              <a:rPr lang="en-US" b="true" sz="5499" spc="-10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com Mercado Imobiliário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5551" y="475266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959877" y="3726081"/>
            <a:ext cx="5299423" cy="5532219"/>
            <a:chOff x="0" y="0"/>
            <a:chExt cx="2779390" cy="29014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79390" cy="2901484"/>
            </a:xfrm>
            <a:custGeom>
              <a:avLst/>
              <a:gdLst/>
              <a:ahLst/>
              <a:cxnLst/>
              <a:rect r="r" b="b" t="t" l="l"/>
              <a:pathLst>
                <a:path h="2901484" w="2779390">
                  <a:moveTo>
                    <a:pt x="29218" y="0"/>
                  </a:moveTo>
                  <a:lnTo>
                    <a:pt x="2750172" y="0"/>
                  </a:lnTo>
                  <a:cubicBezTo>
                    <a:pt x="2757921" y="0"/>
                    <a:pt x="2765353" y="3078"/>
                    <a:pt x="2770832" y="8558"/>
                  </a:cubicBezTo>
                  <a:cubicBezTo>
                    <a:pt x="2776311" y="14037"/>
                    <a:pt x="2779390" y="21469"/>
                    <a:pt x="2779390" y="29218"/>
                  </a:cubicBezTo>
                  <a:lnTo>
                    <a:pt x="2779390" y="2872266"/>
                  </a:lnTo>
                  <a:cubicBezTo>
                    <a:pt x="2779390" y="2888403"/>
                    <a:pt x="2766308" y="2901484"/>
                    <a:pt x="2750172" y="2901484"/>
                  </a:cubicBezTo>
                  <a:lnTo>
                    <a:pt x="29218" y="2901484"/>
                  </a:lnTo>
                  <a:cubicBezTo>
                    <a:pt x="21469" y="2901484"/>
                    <a:pt x="14037" y="2898406"/>
                    <a:pt x="8558" y="2892926"/>
                  </a:cubicBezTo>
                  <a:cubicBezTo>
                    <a:pt x="3078" y="2887447"/>
                    <a:pt x="0" y="2880015"/>
                    <a:pt x="0" y="2872266"/>
                  </a:cubicBezTo>
                  <a:lnTo>
                    <a:pt x="0" y="29218"/>
                  </a:lnTo>
                  <a:cubicBezTo>
                    <a:pt x="0" y="21469"/>
                    <a:pt x="3078" y="14037"/>
                    <a:pt x="8558" y="8558"/>
                  </a:cubicBezTo>
                  <a:cubicBezTo>
                    <a:pt x="14037" y="3078"/>
                    <a:pt x="21469" y="0"/>
                    <a:pt x="29218" y="0"/>
                  </a:cubicBezTo>
                  <a:close/>
                </a:path>
              </a:pathLst>
            </a:custGeom>
            <a:blipFill>
              <a:blip r:embed="rId2"/>
              <a:stretch>
                <a:fillRect l="-28223" t="0" r="-28223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726081"/>
            <a:ext cx="10013690" cy="4895480"/>
          </a:xfrm>
          <a:custGeom>
            <a:avLst/>
            <a:gdLst/>
            <a:ahLst/>
            <a:cxnLst/>
            <a:rect r="r" b="b" t="t" l="l"/>
            <a:pathLst>
              <a:path h="4895480" w="10013690">
                <a:moveTo>
                  <a:pt x="0" y="0"/>
                </a:moveTo>
                <a:lnTo>
                  <a:pt x="10013690" y="0"/>
                </a:lnTo>
                <a:lnTo>
                  <a:pt x="10013690" y="4895480"/>
                </a:lnTo>
                <a:lnTo>
                  <a:pt x="0" y="4895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61" t="-1256" r="0" b="0"/>
            </a:stretch>
          </a:blipFill>
          <a:ln cap="rnd">
            <a:noFill/>
            <a:prstDash val="solid"/>
            <a:round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40226" y="1133475"/>
            <a:ext cx="9560655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10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Integração da Mobilidad</a:t>
            </a:r>
            <a:r>
              <a:rPr lang="en-US" b="true" sz="5499" spc="-10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com Mercado Imobiliário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5551" y="475266"/>
            <a:ext cx="2561763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0554" y="5898461"/>
            <a:ext cx="8127632" cy="3624074"/>
            <a:chOff x="0" y="0"/>
            <a:chExt cx="3771553" cy="1681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71553" cy="1681719"/>
            </a:xfrm>
            <a:custGeom>
              <a:avLst/>
              <a:gdLst/>
              <a:ahLst/>
              <a:cxnLst/>
              <a:rect r="r" b="b" t="t" l="l"/>
              <a:pathLst>
                <a:path h="1681719" w="3771553">
                  <a:moveTo>
                    <a:pt x="19051" y="0"/>
                  </a:moveTo>
                  <a:lnTo>
                    <a:pt x="3752502" y="0"/>
                  </a:lnTo>
                  <a:cubicBezTo>
                    <a:pt x="3757555" y="0"/>
                    <a:pt x="3762401" y="2007"/>
                    <a:pt x="3765973" y="5580"/>
                  </a:cubicBezTo>
                  <a:cubicBezTo>
                    <a:pt x="3769546" y="9153"/>
                    <a:pt x="3771553" y="13998"/>
                    <a:pt x="3771553" y="19051"/>
                  </a:cubicBezTo>
                  <a:lnTo>
                    <a:pt x="3771553" y="1662668"/>
                  </a:lnTo>
                  <a:cubicBezTo>
                    <a:pt x="3771553" y="1667720"/>
                    <a:pt x="3769546" y="1672566"/>
                    <a:pt x="3765973" y="1676139"/>
                  </a:cubicBezTo>
                  <a:cubicBezTo>
                    <a:pt x="3762401" y="1679712"/>
                    <a:pt x="3757555" y="1681719"/>
                    <a:pt x="3752502" y="1681719"/>
                  </a:cubicBezTo>
                  <a:lnTo>
                    <a:pt x="19051" y="1681719"/>
                  </a:lnTo>
                  <a:cubicBezTo>
                    <a:pt x="13998" y="1681719"/>
                    <a:pt x="9153" y="1679712"/>
                    <a:pt x="5580" y="1676139"/>
                  </a:cubicBezTo>
                  <a:cubicBezTo>
                    <a:pt x="2007" y="1672566"/>
                    <a:pt x="0" y="1667720"/>
                    <a:pt x="0" y="1662668"/>
                  </a:cubicBezTo>
                  <a:lnTo>
                    <a:pt x="0" y="19051"/>
                  </a:lnTo>
                  <a:cubicBezTo>
                    <a:pt x="0" y="13998"/>
                    <a:pt x="2007" y="9153"/>
                    <a:pt x="5580" y="5580"/>
                  </a:cubicBezTo>
                  <a:cubicBezTo>
                    <a:pt x="9153" y="2007"/>
                    <a:pt x="13998" y="0"/>
                    <a:pt x="1905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0413" r="0" b="-168768"/>
              </a:stretch>
            </a:blip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097502" y="2825177"/>
            <a:ext cx="8491854" cy="5808150"/>
            <a:chOff x="0" y="0"/>
            <a:chExt cx="2713761" cy="1856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3761" cy="1856123"/>
            </a:xfrm>
            <a:custGeom>
              <a:avLst/>
              <a:gdLst/>
              <a:ahLst/>
              <a:cxnLst/>
              <a:rect r="r" b="b" t="t" l="l"/>
              <a:pathLst>
                <a:path h="1856123" w="2713761">
                  <a:moveTo>
                    <a:pt x="18234" y="0"/>
                  </a:moveTo>
                  <a:lnTo>
                    <a:pt x="2695527" y="0"/>
                  </a:lnTo>
                  <a:cubicBezTo>
                    <a:pt x="2705597" y="0"/>
                    <a:pt x="2713761" y="8164"/>
                    <a:pt x="2713761" y="18234"/>
                  </a:cubicBezTo>
                  <a:lnTo>
                    <a:pt x="2713761" y="1837890"/>
                  </a:lnTo>
                  <a:cubicBezTo>
                    <a:pt x="2713761" y="1847960"/>
                    <a:pt x="2705597" y="1856123"/>
                    <a:pt x="2695527" y="1856123"/>
                  </a:cubicBezTo>
                  <a:lnTo>
                    <a:pt x="18234" y="1856123"/>
                  </a:lnTo>
                  <a:cubicBezTo>
                    <a:pt x="8164" y="1856123"/>
                    <a:pt x="0" y="1847960"/>
                    <a:pt x="0" y="1837890"/>
                  </a:cubicBezTo>
                  <a:lnTo>
                    <a:pt x="0" y="18234"/>
                  </a:lnTo>
                  <a:cubicBezTo>
                    <a:pt x="0" y="8164"/>
                    <a:pt x="8164" y="0"/>
                    <a:pt x="18234" y="0"/>
                  </a:cubicBezTo>
                  <a:close/>
                </a:path>
              </a:pathLst>
            </a:custGeom>
            <a:blipFill>
              <a:blip r:embed="rId3"/>
              <a:stretch>
                <a:fillRect l="-10923" t="0" r="-10923" b="-579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DAHZVhxRrms</dc:identifier>
  <dcterms:modified xsi:type="dcterms:W3CDTF">2011-08-01T06:04:30Z</dcterms:modified>
  <cp:revision>1</cp:revision>
  <dc:title>Apoio Visual - AEDV</dc:title>
</cp:coreProperties>
</file>